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nbv.gob.mx/Normatividad/Ley%20para%20Regular%20las%20Agrupaciones%20Financieras.pdf" TargetMode="External"/><Relationship Id="rId13" Type="http://schemas.openxmlformats.org/officeDocument/2006/relationships/hyperlink" Target="http://www.cnbv.gob.mx/Normatividad/Ley%20Federal%20para%20la%20Prevenci&#243;n%20e%20Identificaci&#243;n%20de%20Operaciones%20con%20Recursos%20de%20Procedencia%20Il&#237;cita.pdf" TargetMode="External"/><Relationship Id="rId18" Type="http://schemas.openxmlformats.org/officeDocument/2006/relationships/image" Target="../media/image2.jpg"/><Relationship Id="rId3" Type="http://schemas.openxmlformats.org/officeDocument/2006/relationships/hyperlink" Target="http://www.cnbv.gob.mx/Normatividad/Disposiciones%20de%20car&#225;cter%20general%20aplicables%20a%20las%20entidades%20de%20ahorro%20y%20cr&#233;dito%20popular.pdf" TargetMode="External"/><Relationship Id="rId7" Type="http://schemas.openxmlformats.org/officeDocument/2006/relationships/hyperlink" Target="http://www.cnbv.gob.mx/Normatividad/Ley%20para%20la%20Transparencia%20y%20Ordenamiento%20de%20los%20Servicios%20Financieros.pdf" TargetMode="External"/><Relationship Id="rId12" Type="http://schemas.openxmlformats.org/officeDocument/2006/relationships/hyperlink" Target="http://www.dof.gob.mx/nota_detalle.php?codigo=5311572&amp;fecha=23/08/2013" TargetMode="External"/><Relationship Id="rId17" Type="http://schemas.openxmlformats.org/officeDocument/2006/relationships/image" Target="../media/image1.png"/><Relationship Id="rId2" Type="http://schemas.openxmlformats.org/officeDocument/2006/relationships/hyperlink" Target="http://www.google.com.mx/url?sa=t&amp;rct=j&amp;q=&amp;esrc=s&amp;source=web&amp;cd=3&amp;cad=rja&amp;uact=8&amp;sqi=2&amp;ved=0CCgQFjACahUKEwjds5S1nYHIAhUB7R4KHWrdC-4&amp;url=http://www.cnbv.gob.mx/Normatividad/Ley%20para%20Regular%20las%20Sociedades%20de%20%20Informaci%C3%B3n%20Crediticia.pdf&amp;usg=AFQjCNH_1z0cnb01trNvYZJaZlMU50iINw" TargetMode="External"/><Relationship Id="rId16" Type="http://schemas.openxmlformats.org/officeDocument/2006/relationships/hyperlink" Target="http://www.cnbv.gob.mx/Normatividad/Ley%20de%20la%20Comisi&#243;n%20Nacional%20Bancaria%20y%20de%20Valores%20(5).pdf" TargetMode="External"/><Relationship Id="rId1" Type="http://schemas.openxmlformats.org/officeDocument/2006/relationships/hyperlink" Target="http://www.cnbv.gob.mx/Normatividad/Ley%20de%20Ahorro%20y%20Cr%C3%A9dito%20Popular.pdf" TargetMode="External"/><Relationship Id="rId6" Type="http://schemas.openxmlformats.org/officeDocument/2006/relationships/hyperlink" Target="http://www.google.com.mx/url?sa=t&amp;rct=j&amp;q=&amp;esrc=s&amp;source=web&amp;cd=1&amp;cad=rja&amp;uact=8&amp;ved=0CBsQFjAAahUKEwjNwIeOnoHIAhVCHB4KHQB0Bv8&amp;url=http://www.condusef.gob.mx/PDF-s/marco_juridico/ley_condusef.pdf&amp;usg=AFQjCNEfIiDQTnmYVtzZFfpulDXuJaLlmQ" TargetMode="External"/><Relationship Id="rId11" Type="http://schemas.openxmlformats.org/officeDocument/2006/relationships/hyperlink" Target="http://www.cnbv.gob.mx/Normatividad/Disposiciones%20de%20car&#225;cter%20general%20para%20la%20certificaci&#243;n%20de%20auditores%20externos%20independientes,%20oficiales%20de%20cumplimiento%20y.pdf" TargetMode="External"/><Relationship Id="rId5" Type="http://schemas.openxmlformats.org/officeDocument/2006/relationships/hyperlink" Target="http://www.hacienda.gob.mx/LASHCP/MarcoJuridico/InteligenciaFinanciera/disposiciones/dof_31dic14_dcgsofipos.pdf" TargetMode="External"/><Relationship Id="rId15" Type="http://schemas.openxmlformats.org/officeDocument/2006/relationships/hyperlink" Target="http://www.cnbv.gob.mx/Normatividad/Disposiciones%20de%20car&#225;cter%20general%20aplicables%20a%20los%20requerimientos%20de%20informaci&#243;n%20que%20formulen%20las%20autoridades%20a%20que%20se.pdf" TargetMode="External"/><Relationship Id="rId10" Type="http://schemas.openxmlformats.org/officeDocument/2006/relationships/hyperlink" Target="http://www.google.com.mx/url?sa=t&amp;rct=j&amp;q=&amp;esrc=s&amp;source=web&amp;cd=1&amp;sqi=2&amp;ved=0CBsQFjAAahUKEwjIjb62nIHIAhVBmh4KHeRIDR4&amp;url=http://www.diputados.gob.mx/LeyesBiblio/pdf/144_130614.pdf&amp;usg=AFQjCNHvGxeivFNjcP97ArP2vAAs63Nf_Q&amp;bvm=bv.102829193,d.dmo" TargetMode="External"/><Relationship Id="rId4" Type="http://schemas.openxmlformats.org/officeDocument/2006/relationships/hyperlink" Target="http://www.cnbv.gob.mx/Normatividad/Reglamento%20de%20Supervisi&#243;n%20de%20la%20Comisi&#243;n%20Nacional%20Bancaria%20y%20de%20Valores.pdf" TargetMode="External"/><Relationship Id="rId9" Type="http://schemas.openxmlformats.org/officeDocument/2006/relationships/hyperlink" Target="http://www.ordenjuridico.gob.mx/Documentos/Federal/html/wo42.html" TargetMode="External"/><Relationship Id="rId14" Type="http://schemas.openxmlformats.org/officeDocument/2006/relationships/hyperlink" Target="http://www.cnbv.gob.mx/Normatividad/Ley%20de%20Transparencia%20y%20de%20Fomento%20a%20la%20Competencia%20en%20el%20Cr%C3%A9dito%20Garantizado.pdf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nbv.gob.mx/Normatividad/Ley%20para%20la%20Transparencia%20y%20Ordenamiento%20de%20los%20Servicios%20Financieros.pdf" TargetMode="External"/><Relationship Id="rId13" Type="http://schemas.openxmlformats.org/officeDocument/2006/relationships/hyperlink" Target="http://www.cnbv.gob.mx/Normatividad/Reglamento%20de%20Supervisi&#243;n%20de%20la%20Comisi&#243;n%20Nacional%20Bancaria%20y%20de%20Valores.pdf" TargetMode="External"/><Relationship Id="rId18" Type="http://schemas.openxmlformats.org/officeDocument/2006/relationships/image" Target="../media/image2.jpg"/><Relationship Id="rId3" Type="http://schemas.openxmlformats.org/officeDocument/2006/relationships/hyperlink" Target="http://www.cnbv.gob.mx/Normatividad/Ley%20de%20la%20Comisi&#243;n%20Nacional%20Bancaria%20y%20de%20Valores%20(5).pdf" TargetMode="External"/><Relationship Id="rId7" Type="http://schemas.openxmlformats.org/officeDocument/2006/relationships/hyperlink" Target="http://www.cnbv.gob.mx/Normatividad/Ley%20Federal%20para%20la%20Prevenci&#243;n%20e%20Identificaci&#243;n%20de%20Operaciones%20con%20Recursos%20de%20Procedencia%20Il&#237;cita.pdf" TargetMode="External"/><Relationship Id="rId12" Type="http://schemas.openxmlformats.org/officeDocument/2006/relationships/hyperlink" Target="http://www.cnbv.gob.mx/Normatividad/Disposiciones%20de%20car&#225;cter%20general%20aplicables%20a%20las%20entidades%20de%20ahorro%20y%20cr&#233;dito%20popular.pdf" TargetMode="External"/><Relationship Id="rId17" Type="http://schemas.openxmlformats.org/officeDocument/2006/relationships/hyperlink" Target="http://www.cnbv.gob.mx/Normatividad/Disposiciones%20de%20car&#225;cter%20general%20aplicables%20a%20los%20requerimientos%20de%20informaci&#243;n%20que%20formulen%20las%20autoridades%20a%20que%20se.pdf" TargetMode="External"/><Relationship Id="rId2" Type="http://schemas.openxmlformats.org/officeDocument/2006/relationships/hyperlink" Target="http://www.cnbv.gob.mx/Normatividad/Ley%20de%20Ahorro%20y%20Cr%C3%A9dito%20Popular.pdf" TargetMode="External"/><Relationship Id="rId16" Type="http://schemas.openxmlformats.org/officeDocument/2006/relationships/hyperlink" Target="http://www.dof.gob.mx/nota_detalle.php?codigo=5311572&amp;fecha=23/08/2013" TargetMode="External"/><Relationship Id="rId1" Type="http://schemas.openxmlformats.org/officeDocument/2006/relationships/hyperlink" Target="http://www.google.com.mx/url?sa=t&amp;rct=j&amp;q=&amp;esrc=s&amp;source=web&amp;cd=1&amp;sqi=2&amp;ved=0CBsQFjAAahUKEwjIjb62nIHIAhVBmh4KHeRIDR4&amp;url=http://www.diputados.gob.mx/LeyesBiblio/pdf/144_130614.pdf&amp;usg=AFQjCNHvGxeivFNjcP97ArP2vAAs63Nf_Q&amp;bvm=bv.102829193,d.dmo" TargetMode="External"/><Relationship Id="rId6" Type="http://schemas.openxmlformats.org/officeDocument/2006/relationships/hyperlink" Target="http://www.google.com.mx/url?sa=t&amp;rct=j&amp;q=&amp;esrc=s&amp;source=web&amp;cd=1&amp;cad=rja&amp;uact=8&amp;ved=0CBsQFjAAahUKEwjNwIeOnoHIAhVCHB4KHQB0Bv8&amp;url=http://www.condusef.gob.mx/PDF-s/marco_juridico/ley_condusef.pdf&amp;usg=AFQjCNEfIiDQTnmYVtzZFfpulDXuJaLlmQ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://www.google.com.mx/url?sa=t&amp;rct=j&amp;q=&amp;esrc=s&amp;source=web&amp;cd=3&amp;cad=rja&amp;uact=8&amp;sqi=2&amp;ved=0CCgQFjACahUKEwjds5S1nYHIAhUB7R4KHWrdC-4&amp;url=http://www.cnbv.gob.mx/Normatividad/Ley%20para%20Regular%20las%20Sociedades%20de%20%20Informaci%C3%B3n%20Crediticia.pdf&amp;usg=AFQjCNH_1z0cnb01trNvYZJaZlMU50iINw" TargetMode="External"/><Relationship Id="rId15" Type="http://schemas.openxmlformats.org/officeDocument/2006/relationships/hyperlink" Target="http://www.cnbv.gob.mx/Normatividad/Disposiciones%20de%20car&#225;cter%20general%20para%20la%20certificaci&#243;n%20de%20auditores%20externos%20independientes,%20oficiales%20de%20cumplimiento%20y.pdf" TargetMode="External"/><Relationship Id="rId10" Type="http://schemas.openxmlformats.org/officeDocument/2006/relationships/hyperlink" Target="http://www.ordenjuridico.gob.mx/Documentos/Federal/html/wo42.html" TargetMode="External"/><Relationship Id="rId4" Type="http://schemas.openxmlformats.org/officeDocument/2006/relationships/hyperlink" Target="http://www.cnbv.gob.mx/Normatividad/Ley%20de%20Transparencia%20y%20de%20Fomento%20a%20la%20Competencia%20en%20el%20Cr%C3%A9dito%20Garantizado.pdf" TargetMode="External"/><Relationship Id="rId9" Type="http://schemas.openxmlformats.org/officeDocument/2006/relationships/hyperlink" Target="http://www.cnbv.gob.mx/Normatividad/Ley%20para%20Regular%20las%20Agrupaciones%20Financieras.pdf" TargetMode="External"/><Relationship Id="rId14" Type="http://schemas.openxmlformats.org/officeDocument/2006/relationships/hyperlink" Target="http://www.hacienda.gob.mx/LASHCP/MarcoJuridico/InteligenciaFinanciera/disposiciones/dof_31dic14_dcgsofipos.pdf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C5D463-5D7A-4AA2-AB8F-F597F7C4687D}" type="doc">
      <dgm:prSet loTypeId="urn:microsoft.com/office/officeart/2005/8/layout/h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D9189E0-B76B-4FBF-B102-6E8F996A3D58}">
      <dgm:prSet phldrT="[Texto]"/>
      <dgm:spPr/>
      <dgm:t>
        <a:bodyPr/>
        <a:lstStyle/>
        <a:p>
          <a:r>
            <a:rPr lang="es-MX" dirty="0" smtClean="0"/>
            <a:t>Leyes</a:t>
          </a:r>
          <a:endParaRPr lang="es-MX" dirty="0"/>
        </a:p>
      </dgm:t>
    </dgm:pt>
    <dgm:pt modelId="{CA022918-8FF6-4BD7-9626-640C29310CE9}" type="parTrans" cxnId="{3D785599-F6FB-4C50-899E-BC6453E5DE45}">
      <dgm:prSet/>
      <dgm:spPr/>
      <dgm:t>
        <a:bodyPr/>
        <a:lstStyle/>
        <a:p>
          <a:endParaRPr lang="es-MX"/>
        </a:p>
      </dgm:t>
    </dgm:pt>
    <dgm:pt modelId="{8F9E9320-CF56-43BA-B40E-9215FE13041B}" type="sibTrans" cxnId="{3D785599-F6FB-4C50-899E-BC6453E5DE45}">
      <dgm:prSet/>
      <dgm:spPr/>
      <dgm:t>
        <a:bodyPr/>
        <a:lstStyle/>
        <a:p>
          <a:endParaRPr lang="es-MX"/>
        </a:p>
      </dgm:t>
    </dgm:pt>
    <dgm:pt modelId="{C785F2D6-3A6D-4FA1-9C9C-90A4A1F16C98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Ley de Ahorro y Crédito Popular</a:t>
          </a:r>
          <a:endParaRPr lang="es-MX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2BD199-9F1D-4A95-BE8E-4E8DF671A170}" type="parTrans" cxnId="{41836791-25B9-4EB7-BA37-880050F90034}">
      <dgm:prSet/>
      <dgm:spPr/>
      <dgm:t>
        <a:bodyPr/>
        <a:lstStyle/>
        <a:p>
          <a:endParaRPr lang="es-MX"/>
        </a:p>
      </dgm:t>
    </dgm:pt>
    <dgm:pt modelId="{0E54D5C5-A08D-4EA2-9CBC-4533C89E3CFB}" type="sibTrans" cxnId="{41836791-25B9-4EB7-BA37-880050F90034}">
      <dgm:prSet/>
      <dgm:spPr/>
      <dgm:t>
        <a:bodyPr/>
        <a:lstStyle/>
        <a:p>
          <a:endParaRPr lang="es-MX"/>
        </a:p>
      </dgm:t>
    </dgm:pt>
    <dgm:pt modelId="{CA238851-ECC1-4959-B65D-FEEB4AFFF2E9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2"/>
            </a:rPr>
            <a:t>Ley para Regular las Sociedades de Información Crediticia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A95E74-4767-4CB3-B74A-5D93512FF15A}" type="parTrans" cxnId="{45E90B57-E443-45ED-AEBA-F2CFB05C33EE}">
      <dgm:prSet/>
      <dgm:spPr/>
      <dgm:t>
        <a:bodyPr/>
        <a:lstStyle/>
        <a:p>
          <a:endParaRPr lang="es-MX"/>
        </a:p>
      </dgm:t>
    </dgm:pt>
    <dgm:pt modelId="{CD33260B-8E67-4C85-8964-7A33A3F2AE5C}" type="sibTrans" cxnId="{45E90B57-E443-45ED-AEBA-F2CFB05C33EE}">
      <dgm:prSet/>
      <dgm:spPr/>
      <dgm:t>
        <a:bodyPr/>
        <a:lstStyle/>
        <a:p>
          <a:endParaRPr lang="es-MX"/>
        </a:p>
      </dgm:t>
    </dgm:pt>
    <dgm:pt modelId="{11058941-5FC7-4ACD-8EE5-2D6A7399A691}">
      <dgm:prSet phldrT="[Texto]"/>
      <dgm:spPr/>
      <dgm:t>
        <a:bodyPr/>
        <a:lstStyle/>
        <a:p>
          <a:r>
            <a:rPr lang="es-MX" dirty="0" smtClean="0"/>
            <a:t>Disposiciones y/o Reglamentos</a:t>
          </a:r>
          <a:endParaRPr lang="es-MX" dirty="0"/>
        </a:p>
      </dgm:t>
    </dgm:pt>
    <dgm:pt modelId="{743F1387-2988-4A66-8770-20C0FC779E9B}" type="parTrans" cxnId="{F1097246-5380-4D33-96CD-34809B5EACE7}">
      <dgm:prSet/>
      <dgm:spPr/>
      <dgm:t>
        <a:bodyPr/>
        <a:lstStyle/>
        <a:p>
          <a:endParaRPr lang="es-MX"/>
        </a:p>
      </dgm:t>
    </dgm:pt>
    <dgm:pt modelId="{96996B71-CCF9-4B69-8E66-B8904BC0FFA2}" type="sibTrans" cxnId="{F1097246-5380-4D33-96CD-34809B5EACE7}">
      <dgm:prSet/>
      <dgm:spPr/>
      <dgm:t>
        <a:bodyPr/>
        <a:lstStyle/>
        <a:p>
          <a:endParaRPr lang="es-MX"/>
        </a:p>
      </dgm:t>
    </dgm:pt>
    <dgm:pt modelId="{B9E7EBDE-DBC3-4B12-B0FA-40A3A5815CF1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3"/>
            </a:rPr>
            <a:t>Disposiciones de Carácter General aplicable a Entidades de Ahorro y Crédito Popular y Organismos de Integración a que se refiere la Ley de Ahorro y Crédito Popular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754E53-3737-4D59-B1BB-D3C48B6DDE73}" type="parTrans" cxnId="{77D2314B-CACC-49BF-9994-B043437F14B5}">
      <dgm:prSet/>
      <dgm:spPr/>
      <dgm:t>
        <a:bodyPr/>
        <a:lstStyle/>
        <a:p>
          <a:endParaRPr lang="es-MX"/>
        </a:p>
      </dgm:t>
    </dgm:pt>
    <dgm:pt modelId="{25D0D382-61BA-4838-8034-AE3FCFEB6B78}" type="sibTrans" cxnId="{77D2314B-CACC-49BF-9994-B043437F14B5}">
      <dgm:prSet/>
      <dgm:spPr/>
      <dgm:t>
        <a:bodyPr/>
        <a:lstStyle/>
        <a:p>
          <a:endParaRPr lang="es-MX"/>
        </a:p>
      </dgm:t>
    </dgm:pt>
    <dgm:pt modelId="{8730F9A7-6288-4FCF-BAFA-92F34E26C424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Reglamento de Supervisión de la Comisión Nacional Bancaria y de Valores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F97BC4-FEBC-47EB-B2FE-C07758EDBA56}" type="parTrans" cxnId="{CD69F4A1-1C8D-4A1B-9554-3CB30C9FB8EF}">
      <dgm:prSet/>
      <dgm:spPr/>
      <dgm:t>
        <a:bodyPr/>
        <a:lstStyle/>
        <a:p>
          <a:endParaRPr lang="es-MX"/>
        </a:p>
      </dgm:t>
    </dgm:pt>
    <dgm:pt modelId="{4D416BA2-B286-47CA-BB46-4D3F70AE9062}" type="sibTrans" cxnId="{CD69F4A1-1C8D-4A1B-9554-3CB30C9FB8EF}">
      <dgm:prSet/>
      <dgm:spPr/>
      <dgm:t>
        <a:bodyPr/>
        <a:lstStyle/>
        <a:p>
          <a:endParaRPr lang="es-MX"/>
        </a:p>
      </dgm:t>
    </dgm:pt>
    <dgm:pt modelId="{89C6F2C8-536C-413E-AE50-78B7E62BA2B2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5"/>
            </a:rPr>
            <a:t>Disposiciones de Carácter General a que se refiere el artículo 124 de la Ley de Ahorro y Crédito Popular Estructura orgánica de las SOFIPOS de acuerdo a la LACP.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E225F0-807B-41E7-AE00-5009C6A4FCC6}" type="parTrans" cxnId="{D42DCC87-6FE2-49EC-8965-9B09E39499B4}">
      <dgm:prSet/>
      <dgm:spPr/>
      <dgm:t>
        <a:bodyPr/>
        <a:lstStyle/>
        <a:p>
          <a:endParaRPr lang="es-MX"/>
        </a:p>
      </dgm:t>
    </dgm:pt>
    <dgm:pt modelId="{34FC6AA7-4A7D-4F0B-9EEB-D75DA09BFA76}" type="sibTrans" cxnId="{D42DCC87-6FE2-49EC-8965-9B09E39499B4}">
      <dgm:prSet/>
      <dgm:spPr/>
      <dgm:t>
        <a:bodyPr/>
        <a:lstStyle/>
        <a:p>
          <a:endParaRPr lang="es-MX"/>
        </a:p>
      </dgm:t>
    </dgm:pt>
    <dgm:pt modelId="{BCDFCDC9-88B3-41C5-B1C1-A73818B56333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6"/>
            </a:rPr>
            <a:t>Ley de Protección y Defensa al Usuario de Servicios Financieros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820356-39F7-445E-AB85-80C4693F75A5}" type="parTrans" cxnId="{17BFE1E1-FA95-4D09-9A32-96395BA8A9E8}">
      <dgm:prSet/>
      <dgm:spPr/>
      <dgm:t>
        <a:bodyPr/>
        <a:lstStyle/>
        <a:p>
          <a:endParaRPr lang="es-MX"/>
        </a:p>
      </dgm:t>
    </dgm:pt>
    <dgm:pt modelId="{267FC917-FB62-402A-A619-F6F7D3A3FC41}" type="sibTrans" cxnId="{17BFE1E1-FA95-4D09-9A32-96395BA8A9E8}">
      <dgm:prSet/>
      <dgm:spPr/>
      <dgm:t>
        <a:bodyPr/>
        <a:lstStyle/>
        <a:p>
          <a:endParaRPr lang="es-MX"/>
        </a:p>
      </dgm:t>
    </dgm:pt>
    <dgm:pt modelId="{3D125AED-5379-4DA3-BB5D-B5F5330C4060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7"/>
            </a:rPr>
            <a:t>Ley para la Transparencia y Ordenamiento de los Servicios Financieros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30C785-1EBE-47D8-B461-7C022222451D}" type="parTrans" cxnId="{918B84C9-C46D-46DF-B6A2-531E548EA2D1}">
      <dgm:prSet/>
      <dgm:spPr/>
      <dgm:t>
        <a:bodyPr/>
        <a:lstStyle/>
        <a:p>
          <a:endParaRPr lang="es-MX"/>
        </a:p>
      </dgm:t>
    </dgm:pt>
    <dgm:pt modelId="{E2B4E857-2B9E-4E06-B01D-D2050809E5CD}" type="sibTrans" cxnId="{918B84C9-C46D-46DF-B6A2-531E548EA2D1}">
      <dgm:prSet/>
      <dgm:spPr/>
      <dgm:t>
        <a:bodyPr/>
        <a:lstStyle/>
        <a:p>
          <a:endParaRPr lang="es-MX"/>
        </a:p>
      </dgm:t>
    </dgm:pt>
    <dgm:pt modelId="{5B4C70C1-6231-4B79-9BC4-F9D22AED10B4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l">
            <a:lnSpc>
              <a:spcPct val="90000"/>
            </a:lnSpc>
          </a:pPr>
          <a:endParaRPr lang="es-MX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8951D0-03C0-481F-981B-BA55DA5034B0}" type="parTrans" cxnId="{F11467AB-CA2E-4A31-A43E-11EF28BDD00D}">
      <dgm:prSet/>
      <dgm:spPr/>
      <dgm:t>
        <a:bodyPr/>
        <a:lstStyle/>
        <a:p>
          <a:endParaRPr lang="es-MX"/>
        </a:p>
      </dgm:t>
    </dgm:pt>
    <dgm:pt modelId="{A784EEA8-1550-497A-B992-C3B16D7AD3D1}" type="sibTrans" cxnId="{F11467AB-CA2E-4A31-A43E-11EF28BDD00D}">
      <dgm:prSet/>
      <dgm:spPr/>
      <dgm:t>
        <a:bodyPr/>
        <a:lstStyle/>
        <a:p>
          <a:endParaRPr lang="es-MX"/>
        </a:p>
      </dgm:t>
    </dgm:pt>
    <dgm:pt modelId="{7E658784-E504-4607-957D-5D57252C7053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8"/>
            </a:rPr>
            <a:t>Ley para Regular las Agrupaciones Financieras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C6153-BA43-4F21-A6E3-A645FB7F7751}" type="parTrans" cxnId="{3BA9F3C2-4417-4555-8612-6CA75A65DA7C}">
      <dgm:prSet/>
      <dgm:spPr/>
      <dgm:t>
        <a:bodyPr/>
        <a:lstStyle/>
        <a:p>
          <a:endParaRPr lang="es-MX"/>
        </a:p>
      </dgm:t>
    </dgm:pt>
    <dgm:pt modelId="{610172F6-256C-4DC7-A715-177F45155ADF}" type="sibTrans" cxnId="{3BA9F3C2-4417-4555-8612-6CA75A65DA7C}">
      <dgm:prSet/>
      <dgm:spPr/>
      <dgm:t>
        <a:bodyPr/>
        <a:lstStyle/>
        <a:p>
          <a:endParaRPr lang="es-MX"/>
        </a:p>
      </dgm:t>
    </dgm:pt>
    <dgm:pt modelId="{44B6BDA9-7E70-40E3-BDC0-1AC427438FD1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9"/>
            </a:rPr>
            <a:t>Ley General de Títulos y Operaciones de Crédito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F8F15-2B1A-4644-99A5-B52A3D73213A}" type="parTrans" cxnId="{441055E9-580E-4CCC-BD64-ECCA92AB6BB6}">
      <dgm:prSet/>
      <dgm:spPr/>
      <dgm:t>
        <a:bodyPr/>
        <a:lstStyle/>
        <a:p>
          <a:endParaRPr lang="es-MX"/>
        </a:p>
      </dgm:t>
    </dgm:pt>
    <dgm:pt modelId="{87874563-E9C5-47A1-BE09-6AFEEABDEEBD}" type="sibTrans" cxnId="{441055E9-580E-4CCC-BD64-ECCA92AB6BB6}">
      <dgm:prSet/>
      <dgm:spPr/>
      <dgm:t>
        <a:bodyPr/>
        <a:lstStyle/>
        <a:p>
          <a:endParaRPr lang="es-MX"/>
        </a:p>
      </dgm:t>
    </dgm:pt>
    <dgm:pt modelId="{FF059A65-A353-49D6-B387-5C0A55244A22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0"/>
            </a:rPr>
            <a:t>Ley General de Sociedades Mercantiles</a:t>
          </a:r>
          <a:endParaRPr lang="es-MX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136D23-3A4A-48C0-B20C-51F924432495}" type="parTrans" cxnId="{A8BE0C55-4B7F-41F3-82CC-C0337FA260CB}">
      <dgm:prSet/>
      <dgm:spPr/>
      <dgm:t>
        <a:bodyPr/>
        <a:lstStyle/>
        <a:p>
          <a:endParaRPr lang="es-MX"/>
        </a:p>
      </dgm:t>
    </dgm:pt>
    <dgm:pt modelId="{2143AC1C-123A-4B0C-A6A1-76E91A35AD09}" type="sibTrans" cxnId="{A8BE0C55-4B7F-41F3-82CC-C0337FA260CB}">
      <dgm:prSet/>
      <dgm:spPr/>
      <dgm:t>
        <a:bodyPr/>
        <a:lstStyle/>
        <a:p>
          <a:endParaRPr lang="es-MX"/>
        </a:p>
      </dgm:t>
    </dgm:pt>
    <dgm:pt modelId="{C49B26AA-1DD7-441A-861D-1461989749AB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1"/>
            </a:rPr>
            <a:t>Disposiciones De Carácter General para la Certificación de Auditores Externos Independientes, Oficiales de Cumplimiento Y demás Profesionales en materia de Prevención de Operaciones con recursos de Procedencia Ilícita Y Financiamiento al Terrorismo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44D398-326C-47DB-BF2B-5E8C629531B2}" type="parTrans" cxnId="{B10FABCC-2FC0-42DE-B3D6-6A6B3234219C}">
      <dgm:prSet/>
      <dgm:spPr/>
      <dgm:t>
        <a:bodyPr/>
        <a:lstStyle/>
        <a:p>
          <a:endParaRPr lang="es-MX"/>
        </a:p>
      </dgm:t>
    </dgm:pt>
    <dgm:pt modelId="{A6E9EF2E-57E0-4E52-8D36-BFA6F1856F97}" type="sibTrans" cxnId="{B10FABCC-2FC0-42DE-B3D6-6A6B3234219C}">
      <dgm:prSet/>
      <dgm:spPr/>
      <dgm:t>
        <a:bodyPr/>
        <a:lstStyle/>
        <a:p>
          <a:endParaRPr lang="es-MX"/>
        </a:p>
      </dgm:t>
    </dgm:pt>
    <dgm:pt modelId="{5EFF1BDD-590B-4BCD-933F-7378EA58DFD1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2"/>
            </a:rPr>
            <a:t>Reglas de Carácter General a que se refiere La Ley Federal para la Prevención e Identificación de Operaciones Con Recursos de Procedencia Ilícita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600018-57A4-4437-9F02-982C4C70ED59}" type="parTrans" cxnId="{7A931E78-79BD-4DA2-B19C-FF163C3687D0}">
      <dgm:prSet/>
      <dgm:spPr/>
      <dgm:t>
        <a:bodyPr/>
        <a:lstStyle/>
        <a:p>
          <a:endParaRPr lang="es-MX"/>
        </a:p>
      </dgm:t>
    </dgm:pt>
    <dgm:pt modelId="{CB1FA267-71E0-4E59-B528-4E05972D8C3C}" type="sibTrans" cxnId="{7A931E78-79BD-4DA2-B19C-FF163C3687D0}">
      <dgm:prSet/>
      <dgm:spPr/>
      <dgm:t>
        <a:bodyPr/>
        <a:lstStyle/>
        <a:p>
          <a:endParaRPr lang="es-MX"/>
        </a:p>
      </dgm:t>
    </dgm:pt>
    <dgm:pt modelId="{20B80E47-27E0-4B24-B925-F94F740B89D5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3"/>
            </a:rPr>
            <a:t>La Ley Federal para la Prevención e Identificación de Operaciones Con Recursos de Procedencia Ilícita</a:t>
          </a:r>
          <a:endParaRPr lang="es-MX" sz="1400" dirty="0" smtClean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EFD4A1-1E8A-4506-82A5-29F2E028F1C3}" type="parTrans" cxnId="{14B0E31D-BDDA-4A5A-A9EA-17431EF1DD77}">
      <dgm:prSet/>
      <dgm:spPr/>
      <dgm:t>
        <a:bodyPr/>
        <a:lstStyle/>
        <a:p>
          <a:endParaRPr lang="es-MX"/>
        </a:p>
      </dgm:t>
    </dgm:pt>
    <dgm:pt modelId="{144D4BE5-9661-461D-9564-B51EC80EA608}" type="sibTrans" cxnId="{14B0E31D-BDDA-4A5A-A9EA-17431EF1DD77}">
      <dgm:prSet/>
      <dgm:spPr/>
      <dgm:t>
        <a:bodyPr/>
        <a:lstStyle/>
        <a:p>
          <a:endParaRPr lang="es-MX"/>
        </a:p>
      </dgm:t>
    </dgm:pt>
    <dgm:pt modelId="{4D84AFB5-916E-43CF-96B3-A279D0949DD0}">
      <dgm:prSet phldrT="[Texto]" custT="1"/>
      <dgm:spPr>
        <a:solidFill>
          <a:srgbClr val="009E9A"/>
        </a:solidFill>
      </dgm:spPr>
      <dgm:t>
        <a:bodyPr tIns="288000"/>
        <a:lstStyle/>
        <a:p>
          <a:pPr algn="just"/>
          <a:r>
            <a:rPr lang="es-MX" sz="1400" b="0" i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4"/>
            </a:rPr>
            <a:t>Ley de Transparencia y de Fomento a la Competencia en el Crédito Garantizado</a:t>
          </a:r>
          <a:endParaRPr lang="es-MX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9B43DA-D6DC-4A6B-9AD6-0366206FFDDC}" type="parTrans" cxnId="{F14996E7-577F-4063-8B4E-FBE723F69CDA}">
      <dgm:prSet/>
      <dgm:spPr/>
      <dgm:t>
        <a:bodyPr/>
        <a:lstStyle/>
        <a:p>
          <a:endParaRPr lang="es-MX"/>
        </a:p>
      </dgm:t>
    </dgm:pt>
    <dgm:pt modelId="{BCD53B01-1FA8-4488-A614-E9F8061CE544}" type="sibTrans" cxnId="{F14996E7-577F-4063-8B4E-FBE723F69CDA}">
      <dgm:prSet/>
      <dgm:spPr/>
      <dgm:t>
        <a:bodyPr/>
        <a:lstStyle/>
        <a:p>
          <a:endParaRPr lang="es-MX"/>
        </a:p>
      </dgm:t>
    </dgm:pt>
    <dgm:pt modelId="{443BBC39-A712-45C5-AC53-C6BF859E0202}">
      <dgm:prSet phldrT="[Texto]" custT="1"/>
      <dgm:spPr>
        <a:solidFill>
          <a:srgbClr val="006664"/>
        </a:solidFill>
        <a:ln>
          <a:solidFill>
            <a:schemeClr val="bg1">
              <a:lumMod val="65000"/>
            </a:schemeClr>
          </a:solidFill>
        </a:ln>
      </dgm:spPr>
      <dgm:t>
        <a:bodyPr tIns="288000"/>
        <a:lstStyle/>
        <a:p>
          <a:pPr algn="just">
            <a:lnSpc>
              <a:spcPct val="100000"/>
            </a:lnSpc>
          </a:pPr>
          <a:r>
            <a:rPr lang="es-MX" sz="1300" b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5"/>
            </a:rPr>
            <a:t>Disposiciones de carácter general aplicables a los requerimientos de información que formulen las autoridades a que se refieren los artículos 117 de la Ley de Instituciones de Crédito, 34 de la Ley de Ahorro y Crédito Popular, 44 de la Ley de Uniones de Crédito y 69 de la Ley para Regular las Actividades de las Sociedades Cooperativas de Ahorro y Préstamo</a:t>
          </a:r>
          <a:endParaRPr lang="es-MX" sz="13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6BBF01-962E-4085-AAA3-1081E3A533CA}" type="parTrans" cxnId="{EB237093-3CEF-486E-ABC7-4360DE9DE0F4}">
      <dgm:prSet/>
      <dgm:spPr/>
      <dgm:t>
        <a:bodyPr/>
        <a:lstStyle/>
        <a:p>
          <a:endParaRPr lang="es-MX"/>
        </a:p>
      </dgm:t>
    </dgm:pt>
    <dgm:pt modelId="{C80CDFFD-9638-482E-B1CC-8699E31A42E6}" type="sibTrans" cxnId="{EB237093-3CEF-486E-ABC7-4360DE9DE0F4}">
      <dgm:prSet/>
      <dgm:spPr/>
      <dgm:t>
        <a:bodyPr/>
        <a:lstStyle/>
        <a:p>
          <a:endParaRPr lang="es-MX"/>
        </a:p>
      </dgm:t>
    </dgm:pt>
    <dgm:pt modelId="{4796499D-6B12-43A0-AB1E-A9FFFC6ECFAC}">
      <dgm:prSet phldrT="[Texto]" custT="1"/>
      <dgm:spPr>
        <a:solidFill>
          <a:srgbClr val="009E9A"/>
        </a:solidFill>
      </dgm:spPr>
      <dgm:t>
        <a:bodyPr/>
        <a:lstStyle/>
        <a:p>
          <a:pPr algn="just"/>
          <a:r>
            <a:rPr lang="es-MX" sz="1400" b="0" i="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6"/>
            </a:rPr>
            <a:t>Ley de la Comisión Nacional Bancaria y de Valores</a:t>
          </a:r>
          <a:endParaRPr lang="es-MX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D0B36F-9FF5-48B8-98D7-210ED230A18B}" type="parTrans" cxnId="{0327802A-E21E-42D9-B786-4E8A828C748E}">
      <dgm:prSet/>
      <dgm:spPr/>
      <dgm:t>
        <a:bodyPr/>
        <a:lstStyle/>
        <a:p>
          <a:endParaRPr lang="es-MX"/>
        </a:p>
      </dgm:t>
    </dgm:pt>
    <dgm:pt modelId="{43111DC2-B1A0-485E-8884-7984B48871D2}" type="sibTrans" cxnId="{0327802A-E21E-42D9-B786-4E8A828C748E}">
      <dgm:prSet/>
      <dgm:spPr/>
      <dgm:t>
        <a:bodyPr/>
        <a:lstStyle/>
        <a:p>
          <a:endParaRPr lang="es-MX"/>
        </a:p>
      </dgm:t>
    </dgm:pt>
    <dgm:pt modelId="{4E08A87D-F46F-404B-824E-7317DE60E4D5}" type="pres">
      <dgm:prSet presAssocID="{BBC5D463-5D7A-4AA2-AB8F-F597F7C4687D}" presName="linearFlow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s-MX"/>
        </a:p>
      </dgm:t>
    </dgm:pt>
    <dgm:pt modelId="{84DCA947-332C-4CA3-BD3D-DF302EB58140}" type="pres">
      <dgm:prSet presAssocID="{8D9189E0-B76B-4FBF-B102-6E8F996A3D58}" presName="compositeNode" presStyleCnt="0">
        <dgm:presLayoutVars>
          <dgm:bulletEnabled val="1"/>
        </dgm:presLayoutVars>
      </dgm:prSet>
      <dgm:spPr/>
    </dgm:pt>
    <dgm:pt modelId="{0B3431A7-A148-43C2-852C-3C4B5A575AFC}" type="pres">
      <dgm:prSet presAssocID="{8D9189E0-B76B-4FBF-B102-6E8F996A3D58}" presName="image" presStyleLbl="fgImgPlace1" presStyleIdx="0" presStyleCnt="2" custLinFactNeighborX="-4757" custLinFactNeighborY="10918"/>
      <dgm:spPr>
        <a:blipFill>
          <a:blip xmlns:r="http://schemas.openxmlformats.org/officeDocument/2006/relationships" r:embed="rId17"/>
          <a:stretch>
            <a:fillRect l="15000" t="8000" r="20000" b="7000"/>
          </a:stretch>
        </a:blipFill>
      </dgm:spPr>
      <dgm:t>
        <a:bodyPr/>
        <a:lstStyle/>
        <a:p>
          <a:endParaRPr lang="es-MX"/>
        </a:p>
      </dgm:t>
    </dgm:pt>
    <dgm:pt modelId="{DC1CDE5C-0A11-493F-B87B-5F01198733BD}" type="pres">
      <dgm:prSet presAssocID="{8D9189E0-B76B-4FBF-B102-6E8F996A3D58}" presName="childNode" presStyleLbl="node1" presStyleIdx="0" presStyleCnt="2" custScaleX="100098" custScaleY="128205" custLinFactNeighborX="12858" custLinFactNeighborY="-1556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34874A70-EC49-4AE8-870D-F41BF1700ABA}" type="pres">
      <dgm:prSet presAssocID="{8D9189E0-B76B-4FBF-B102-6E8F996A3D58}" presName="parentNode" presStyleLbl="revTx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7E961BF9-FE00-4AF8-BB7B-FB6CC8B59657}" type="pres">
      <dgm:prSet presAssocID="{8F9E9320-CF56-43BA-B40E-9215FE13041B}" presName="sibTrans" presStyleCnt="0"/>
      <dgm:spPr/>
    </dgm:pt>
    <dgm:pt modelId="{D5549D45-4738-4138-92EA-A80566D29C12}" type="pres">
      <dgm:prSet presAssocID="{11058941-5FC7-4ACD-8EE5-2D6A7399A691}" presName="compositeNode" presStyleCnt="0">
        <dgm:presLayoutVars>
          <dgm:bulletEnabled val="1"/>
        </dgm:presLayoutVars>
      </dgm:prSet>
      <dgm:spPr/>
    </dgm:pt>
    <dgm:pt modelId="{2DC08E12-FC21-41D8-A182-65D30837D2DE}" type="pres">
      <dgm:prSet presAssocID="{11058941-5FC7-4ACD-8EE5-2D6A7399A691}" presName="image" presStyleLbl="fgImgPlace1" presStyleIdx="1" presStyleCnt="2" custScaleX="66757" custScaleY="66154" custLinFactNeighborX="-43137" custLinFactNeighborY="19647"/>
      <dgm:spPr>
        <a:blipFill>
          <a:blip xmlns:r="http://schemas.openxmlformats.org/officeDocument/2006/relationships" r:embed="rId18"/>
          <a:stretch>
            <a:fillRect l="15000" t="8000" r="20000" b="7000"/>
          </a:stretch>
        </a:blipFill>
      </dgm:spPr>
      <dgm:t>
        <a:bodyPr/>
        <a:lstStyle/>
        <a:p>
          <a:endParaRPr lang="es-MX"/>
        </a:p>
      </dgm:t>
    </dgm:pt>
    <dgm:pt modelId="{F7EE1BFE-95AC-4A7A-8469-BFC99428E024}" type="pres">
      <dgm:prSet presAssocID="{11058941-5FC7-4ACD-8EE5-2D6A7399A691}" presName="childNode" presStyleLbl="node1" presStyleIdx="1" presStyleCnt="2" custScaleX="98649" custScaleY="128159" custLinFactNeighborX="-2963" custLinFactNeighborY="953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C71CEFA-FFEF-4939-9850-A7C82FE7DC18}" type="pres">
      <dgm:prSet presAssocID="{11058941-5FC7-4ACD-8EE5-2D6A7399A691}" presName="parentNode" presStyleLbl="revTx" presStyleIdx="1" presStyleCnt="2" custLinFactNeighborX="-18010" custLinFactNeighborY="1271">
        <dgm:presLayoutVars>
          <dgm:chMax val="0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CD69F4A1-1C8D-4A1B-9554-3CB30C9FB8EF}" srcId="{11058941-5FC7-4ACD-8EE5-2D6A7399A691}" destId="{8730F9A7-6288-4FCF-BAFA-92F34E26C424}" srcOrd="1" destOrd="0" parTransId="{33F97BC4-FEBC-47EB-B2FE-C07758EDBA56}" sibTransId="{4D416BA2-B286-47CA-BB46-4D3F70AE9062}"/>
    <dgm:cxn modelId="{1E9E90C7-046D-4AC8-AA39-7EFE59538A31}" type="presOf" srcId="{BBC5D463-5D7A-4AA2-AB8F-F597F7C4687D}" destId="{4E08A87D-F46F-404B-824E-7317DE60E4D5}" srcOrd="0" destOrd="0" presId="urn:microsoft.com/office/officeart/2005/8/layout/hList2"/>
    <dgm:cxn modelId="{0327802A-E21E-42D9-B786-4E8A828C748E}" srcId="{8D9189E0-B76B-4FBF-B102-6E8F996A3D58}" destId="{4796499D-6B12-43A0-AB1E-A9FFFC6ECFAC}" srcOrd="2" destOrd="0" parTransId="{89D0B36F-9FF5-48B8-98D7-210ED230A18B}" sibTransId="{43111DC2-B1A0-485E-8884-7984B48871D2}"/>
    <dgm:cxn modelId="{81151F6F-7207-4455-A182-4C9E736648E3}" type="presOf" srcId="{5B4C70C1-6231-4B79-9BC4-F9D22AED10B4}" destId="{F7EE1BFE-95AC-4A7A-8469-BFC99428E024}" srcOrd="0" destOrd="6" presId="urn:microsoft.com/office/officeart/2005/8/layout/hList2"/>
    <dgm:cxn modelId="{2C274C09-4CAC-4717-8DB2-7797933E49CD}" type="presOf" srcId="{11058941-5FC7-4ACD-8EE5-2D6A7399A691}" destId="{4C71CEFA-FFEF-4939-9850-A7C82FE7DC18}" srcOrd="0" destOrd="0" presId="urn:microsoft.com/office/officeart/2005/8/layout/hList2"/>
    <dgm:cxn modelId="{F11467AB-CA2E-4A31-A43E-11EF28BDD00D}" srcId="{11058941-5FC7-4ACD-8EE5-2D6A7399A691}" destId="{5B4C70C1-6231-4B79-9BC4-F9D22AED10B4}" srcOrd="6" destOrd="0" parTransId="{CF8951D0-03C0-481F-981B-BA55DA5034B0}" sibTransId="{A784EEA8-1550-497A-B992-C3B16D7AD3D1}"/>
    <dgm:cxn modelId="{17BFE1E1-FA95-4D09-9A32-96395BA8A9E8}" srcId="{8D9189E0-B76B-4FBF-B102-6E8F996A3D58}" destId="{BCDFCDC9-88B3-41C5-B1C1-A73818B56333}" srcOrd="5" destOrd="0" parTransId="{2A820356-39F7-445E-AB85-80C4693F75A5}" sibTransId="{267FC917-FB62-402A-A619-F6F7D3A3FC41}"/>
    <dgm:cxn modelId="{B10FABCC-2FC0-42DE-B3D6-6A6B3234219C}" srcId="{11058941-5FC7-4ACD-8EE5-2D6A7399A691}" destId="{C49B26AA-1DD7-441A-861D-1461989749AB}" srcOrd="3" destOrd="0" parTransId="{D744D398-326C-47DB-BF2B-5E8C629531B2}" sibTransId="{A6E9EF2E-57E0-4E52-8D36-BFA6F1856F97}"/>
    <dgm:cxn modelId="{441055E9-580E-4CCC-BD64-ECCA92AB6BB6}" srcId="{8D9189E0-B76B-4FBF-B102-6E8F996A3D58}" destId="{44B6BDA9-7E70-40E3-BDC0-1AC427438FD1}" srcOrd="9" destOrd="0" parTransId="{5ABF8F15-2B1A-4644-99A5-B52A3D73213A}" sibTransId="{87874563-E9C5-47A1-BE09-6AFEEABDEEBD}"/>
    <dgm:cxn modelId="{F1097246-5380-4D33-96CD-34809B5EACE7}" srcId="{BBC5D463-5D7A-4AA2-AB8F-F597F7C4687D}" destId="{11058941-5FC7-4ACD-8EE5-2D6A7399A691}" srcOrd="1" destOrd="0" parTransId="{743F1387-2988-4A66-8770-20C0FC779E9B}" sibTransId="{96996B71-CCF9-4B69-8E66-B8904BC0FFA2}"/>
    <dgm:cxn modelId="{F14996E7-577F-4063-8B4E-FBE723F69CDA}" srcId="{8D9189E0-B76B-4FBF-B102-6E8F996A3D58}" destId="{4D84AFB5-916E-43CF-96B3-A279D0949DD0}" srcOrd="3" destOrd="0" parTransId="{0D9B43DA-D6DC-4A6B-9AD6-0366206FFDDC}" sibTransId="{BCD53B01-1FA8-4488-A614-E9F8061CE544}"/>
    <dgm:cxn modelId="{45E90B57-E443-45ED-AEBA-F2CFB05C33EE}" srcId="{8D9189E0-B76B-4FBF-B102-6E8F996A3D58}" destId="{CA238851-ECC1-4959-B65D-FEEB4AFFF2E9}" srcOrd="4" destOrd="0" parTransId="{23A95E74-4767-4CB3-B74A-5D93512FF15A}" sibTransId="{CD33260B-8E67-4C85-8964-7A33A3F2AE5C}"/>
    <dgm:cxn modelId="{5A38D0F0-36DA-4D20-AA89-FCB89C0F5536}" type="presOf" srcId="{B9E7EBDE-DBC3-4B12-B0FA-40A3A5815CF1}" destId="{F7EE1BFE-95AC-4A7A-8469-BFC99428E024}" srcOrd="0" destOrd="0" presId="urn:microsoft.com/office/officeart/2005/8/layout/hList2"/>
    <dgm:cxn modelId="{7A931E78-79BD-4DA2-B19C-FF163C3687D0}" srcId="{11058941-5FC7-4ACD-8EE5-2D6A7399A691}" destId="{5EFF1BDD-590B-4BCD-933F-7378EA58DFD1}" srcOrd="4" destOrd="0" parTransId="{87600018-57A4-4437-9F02-982C4C70ED59}" sibTransId="{CB1FA267-71E0-4E59-B528-4E05972D8C3C}"/>
    <dgm:cxn modelId="{D42DCC87-6FE2-49EC-8965-9B09E39499B4}" srcId="{11058941-5FC7-4ACD-8EE5-2D6A7399A691}" destId="{89C6F2C8-536C-413E-AE50-78B7E62BA2B2}" srcOrd="2" destOrd="0" parTransId="{EEE225F0-807B-41E7-AE00-5009C6A4FCC6}" sibTransId="{34FC6AA7-4A7D-4F0B-9EEB-D75DA09BFA76}"/>
    <dgm:cxn modelId="{3D785599-F6FB-4C50-899E-BC6453E5DE45}" srcId="{BBC5D463-5D7A-4AA2-AB8F-F597F7C4687D}" destId="{8D9189E0-B76B-4FBF-B102-6E8F996A3D58}" srcOrd="0" destOrd="0" parTransId="{CA022918-8FF6-4BD7-9626-640C29310CE9}" sibTransId="{8F9E9320-CF56-43BA-B40E-9215FE13041B}"/>
    <dgm:cxn modelId="{F5A94619-B1FE-48D1-8BDE-1FD48B93D95A}" type="presOf" srcId="{4D84AFB5-916E-43CF-96B3-A279D0949DD0}" destId="{DC1CDE5C-0A11-493F-B87B-5F01198733BD}" srcOrd="0" destOrd="3" presId="urn:microsoft.com/office/officeart/2005/8/layout/hList2"/>
    <dgm:cxn modelId="{918B84C9-C46D-46DF-B6A2-531E548EA2D1}" srcId="{8D9189E0-B76B-4FBF-B102-6E8F996A3D58}" destId="{3D125AED-5379-4DA3-BB5D-B5F5330C4060}" srcOrd="7" destOrd="0" parTransId="{7E30C785-1EBE-47D8-B461-7C022222451D}" sibTransId="{E2B4E857-2B9E-4E06-B01D-D2050809E5CD}"/>
    <dgm:cxn modelId="{CEDD3C03-93EE-42DE-85C0-665A9D64D8A9}" type="presOf" srcId="{C785F2D6-3A6D-4FA1-9C9C-90A4A1F16C98}" destId="{DC1CDE5C-0A11-493F-B87B-5F01198733BD}" srcOrd="0" destOrd="1" presId="urn:microsoft.com/office/officeart/2005/8/layout/hList2"/>
    <dgm:cxn modelId="{4D43457A-305B-476D-A9DE-50F47A066362}" type="presOf" srcId="{443BBC39-A712-45C5-AC53-C6BF859E0202}" destId="{F7EE1BFE-95AC-4A7A-8469-BFC99428E024}" srcOrd="0" destOrd="5" presId="urn:microsoft.com/office/officeart/2005/8/layout/hList2"/>
    <dgm:cxn modelId="{2F887126-B5B5-4B0C-8B1C-C67E29CB6C0C}" type="presOf" srcId="{5EFF1BDD-590B-4BCD-933F-7378EA58DFD1}" destId="{F7EE1BFE-95AC-4A7A-8469-BFC99428E024}" srcOrd="0" destOrd="4" presId="urn:microsoft.com/office/officeart/2005/8/layout/hList2"/>
    <dgm:cxn modelId="{3149D9D7-2A8C-4B0F-A2B2-8C2AF4CCCD0F}" type="presOf" srcId="{CA238851-ECC1-4959-B65D-FEEB4AFFF2E9}" destId="{DC1CDE5C-0A11-493F-B87B-5F01198733BD}" srcOrd="0" destOrd="4" presId="urn:microsoft.com/office/officeart/2005/8/layout/hList2"/>
    <dgm:cxn modelId="{1DEF7433-B739-455C-B88A-A2CBF5E3189D}" type="presOf" srcId="{C49B26AA-1DD7-441A-861D-1461989749AB}" destId="{F7EE1BFE-95AC-4A7A-8469-BFC99428E024}" srcOrd="0" destOrd="3" presId="urn:microsoft.com/office/officeart/2005/8/layout/hList2"/>
    <dgm:cxn modelId="{EFCAAB62-8742-4AF6-8DE9-18833142A318}" type="presOf" srcId="{7E658784-E504-4607-957D-5D57252C7053}" destId="{DC1CDE5C-0A11-493F-B87B-5F01198733BD}" srcOrd="0" destOrd="8" presId="urn:microsoft.com/office/officeart/2005/8/layout/hList2"/>
    <dgm:cxn modelId="{FC1CF8C1-1294-4F30-9E77-140DB5069163}" type="presOf" srcId="{44B6BDA9-7E70-40E3-BDC0-1AC427438FD1}" destId="{DC1CDE5C-0A11-493F-B87B-5F01198733BD}" srcOrd="0" destOrd="9" presId="urn:microsoft.com/office/officeart/2005/8/layout/hList2"/>
    <dgm:cxn modelId="{41836791-25B9-4EB7-BA37-880050F90034}" srcId="{8D9189E0-B76B-4FBF-B102-6E8F996A3D58}" destId="{C785F2D6-3A6D-4FA1-9C9C-90A4A1F16C98}" srcOrd="1" destOrd="0" parTransId="{C02BD199-9F1D-4A95-BE8E-4E8DF671A170}" sibTransId="{0E54D5C5-A08D-4EA2-9CBC-4533C89E3CFB}"/>
    <dgm:cxn modelId="{69DEB9DF-9FC2-4623-9F02-EAC25B3833A7}" type="presOf" srcId="{BCDFCDC9-88B3-41C5-B1C1-A73818B56333}" destId="{DC1CDE5C-0A11-493F-B87B-5F01198733BD}" srcOrd="0" destOrd="5" presId="urn:microsoft.com/office/officeart/2005/8/layout/hList2"/>
    <dgm:cxn modelId="{EB237093-3CEF-486E-ABC7-4360DE9DE0F4}" srcId="{11058941-5FC7-4ACD-8EE5-2D6A7399A691}" destId="{443BBC39-A712-45C5-AC53-C6BF859E0202}" srcOrd="5" destOrd="0" parTransId="{0F6BBF01-962E-4085-AAA3-1081E3A533CA}" sibTransId="{C80CDFFD-9638-482E-B1CC-8699E31A42E6}"/>
    <dgm:cxn modelId="{14B0E31D-BDDA-4A5A-A9EA-17431EF1DD77}" srcId="{8D9189E0-B76B-4FBF-B102-6E8F996A3D58}" destId="{20B80E47-27E0-4B24-B925-F94F740B89D5}" srcOrd="6" destOrd="0" parTransId="{23EFD4A1-1E8A-4506-82A5-29F2E028F1C3}" sibTransId="{144D4BE5-9661-461D-9564-B51EC80EA608}"/>
    <dgm:cxn modelId="{FB0A35AD-8BCE-4D76-B7A0-13A07073493E}" type="presOf" srcId="{8D9189E0-B76B-4FBF-B102-6E8F996A3D58}" destId="{34874A70-EC49-4AE8-870D-F41BF1700ABA}" srcOrd="0" destOrd="0" presId="urn:microsoft.com/office/officeart/2005/8/layout/hList2"/>
    <dgm:cxn modelId="{0A2710FA-D69D-41C7-8B36-21FB1339C95F}" type="presOf" srcId="{4796499D-6B12-43A0-AB1E-A9FFFC6ECFAC}" destId="{DC1CDE5C-0A11-493F-B87B-5F01198733BD}" srcOrd="0" destOrd="2" presId="urn:microsoft.com/office/officeart/2005/8/layout/hList2"/>
    <dgm:cxn modelId="{A8BE0C55-4B7F-41F3-82CC-C0337FA260CB}" srcId="{8D9189E0-B76B-4FBF-B102-6E8F996A3D58}" destId="{FF059A65-A353-49D6-B387-5C0A55244A22}" srcOrd="0" destOrd="0" parTransId="{CF136D23-3A4A-48C0-B20C-51F924432495}" sibTransId="{2143AC1C-123A-4B0C-A6A1-76E91A35AD09}"/>
    <dgm:cxn modelId="{90D94DAD-AAFA-4878-9C71-127128770EC4}" type="presOf" srcId="{8730F9A7-6288-4FCF-BAFA-92F34E26C424}" destId="{F7EE1BFE-95AC-4A7A-8469-BFC99428E024}" srcOrd="0" destOrd="1" presId="urn:microsoft.com/office/officeart/2005/8/layout/hList2"/>
    <dgm:cxn modelId="{77D2314B-CACC-49BF-9994-B043437F14B5}" srcId="{11058941-5FC7-4ACD-8EE5-2D6A7399A691}" destId="{B9E7EBDE-DBC3-4B12-B0FA-40A3A5815CF1}" srcOrd="0" destOrd="0" parTransId="{A5754E53-3737-4D59-B1BB-D3C48B6DDE73}" sibTransId="{25D0D382-61BA-4838-8034-AE3FCFEB6B78}"/>
    <dgm:cxn modelId="{17596922-9401-4DCD-9B09-84D06821C2F8}" type="presOf" srcId="{20B80E47-27E0-4B24-B925-F94F740B89D5}" destId="{DC1CDE5C-0A11-493F-B87B-5F01198733BD}" srcOrd="0" destOrd="6" presId="urn:microsoft.com/office/officeart/2005/8/layout/hList2"/>
    <dgm:cxn modelId="{F9DA5B35-C40C-40FA-B07D-02ED0E191A32}" type="presOf" srcId="{3D125AED-5379-4DA3-BB5D-B5F5330C4060}" destId="{DC1CDE5C-0A11-493F-B87B-5F01198733BD}" srcOrd="0" destOrd="7" presId="urn:microsoft.com/office/officeart/2005/8/layout/hList2"/>
    <dgm:cxn modelId="{8BDCC66E-50FD-4CDB-A3A4-7CF076D4504C}" type="presOf" srcId="{89C6F2C8-536C-413E-AE50-78B7E62BA2B2}" destId="{F7EE1BFE-95AC-4A7A-8469-BFC99428E024}" srcOrd="0" destOrd="2" presId="urn:microsoft.com/office/officeart/2005/8/layout/hList2"/>
    <dgm:cxn modelId="{3BA9F3C2-4417-4555-8612-6CA75A65DA7C}" srcId="{8D9189E0-B76B-4FBF-B102-6E8F996A3D58}" destId="{7E658784-E504-4607-957D-5D57252C7053}" srcOrd="8" destOrd="0" parTransId="{3DFC6153-BA43-4F21-A6E3-A645FB7F7751}" sibTransId="{610172F6-256C-4DC7-A715-177F45155ADF}"/>
    <dgm:cxn modelId="{E754AE0A-12B0-4BEB-98E9-3DA932AC9979}" type="presOf" srcId="{FF059A65-A353-49D6-B387-5C0A55244A22}" destId="{DC1CDE5C-0A11-493F-B87B-5F01198733BD}" srcOrd="0" destOrd="0" presId="urn:microsoft.com/office/officeart/2005/8/layout/hList2"/>
    <dgm:cxn modelId="{5F7634B1-178B-4DC0-BC63-9C1214F5D18B}" type="presParOf" srcId="{4E08A87D-F46F-404B-824E-7317DE60E4D5}" destId="{84DCA947-332C-4CA3-BD3D-DF302EB58140}" srcOrd="0" destOrd="0" presId="urn:microsoft.com/office/officeart/2005/8/layout/hList2"/>
    <dgm:cxn modelId="{BD12DF41-8C22-4813-B9A7-BA25056B49C9}" type="presParOf" srcId="{84DCA947-332C-4CA3-BD3D-DF302EB58140}" destId="{0B3431A7-A148-43C2-852C-3C4B5A575AFC}" srcOrd="0" destOrd="0" presId="urn:microsoft.com/office/officeart/2005/8/layout/hList2"/>
    <dgm:cxn modelId="{10C9A702-0554-4576-A3F4-47BB505B65B0}" type="presParOf" srcId="{84DCA947-332C-4CA3-BD3D-DF302EB58140}" destId="{DC1CDE5C-0A11-493F-B87B-5F01198733BD}" srcOrd="1" destOrd="0" presId="urn:microsoft.com/office/officeart/2005/8/layout/hList2"/>
    <dgm:cxn modelId="{37D8DA43-47D7-4FDC-8820-B40E26B1069F}" type="presParOf" srcId="{84DCA947-332C-4CA3-BD3D-DF302EB58140}" destId="{34874A70-EC49-4AE8-870D-F41BF1700ABA}" srcOrd="2" destOrd="0" presId="urn:microsoft.com/office/officeart/2005/8/layout/hList2"/>
    <dgm:cxn modelId="{AA9B04AE-4A1F-4CAB-94FC-59653D44C9A9}" type="presParOf" srcId="{4E08A87D-F46F-404B-824E-7317DE60E4D5}" destId="{7E961BF9-FE00-4AF8-BB7B-FB6CC8B59657}" srcOrd="1" destOrd="0" presId="urn:microsoft.com/office/officeart/2005/8/layout/hList2"/>
    <dgm:cxn modelId="{508C2368-71C8-47F3-A11D-A3E28B43FC5F}" type="presParOf" srcId="{4E08A87D-F46F-404B-824E-7317DE60E4D5}" destId="{D5549D45-4738-4138-92EA-A80566D29C12}" srcOrd="2" destOrd="0" presId="urn:microsoft.com/office/officeart/2005/8/layout/hList2"/>
    <dgm:cxn modelId="{5345582E-EFF4-4EE6-85B2-EB6F03CEFDD2}" type="presParOf" srcId="{D5549D45-4738-4138-92EA-A80566D29C12}" destId="{2DC08E12-FC21-41D8-A182-65D30837D2DE}" srcOrd="0" destOrd="0" presId="urn:microsoft.com/office/officeart/2005/8/layout/hList2"/>
    <dgm:cxn modelId="{12DBEA48-74C7-4677-83CB-72B53D87857E}" type="presParOf" srcId="{D5549D45-4738-4138-92EA-A80566D29C12}" destId="{F7EE1BFE-95AC-4A7A-8469-BFC99428E024}" srcOrd="1" destOrd="0" presId="urn:microsoft.com/office/officeart/2005/8/layout/hList2"/>
    <dgm:cxn modelId="{27165586-1443-4ECB-974A-B564928749F1}" type="presParOf" srcId="{D5549D45-4738-4138-92EA-A80566D29C12}" destId="{4C71CEFA-FFEF-4939-9850-A7C82FE7DC1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874A70-EC49-4AE8-870D-F41BF1700ABA}">
      <dsp:nvSpPr>
        <dsp:cNvPr id="0" name=""/>
        <dsp:cNvSpPr/>
      </dsp:nvSpPr>
      <dsp:spPr>
        <a:xfrm rot="16200000">
          <a:off x="-1742624" y="2705874"/>
          <a:ext cx="4498149" cy="872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769612" bIns="0" numCol="1" spcCol="1270" anchor="t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3100" kern="1200" dirty="0" smtClean="0"/>
            <a:t>Leyes</a:t>
          </a:r>
          <a:endParaRPr lang="es-MX" sz="3100" kern="1200" dirty="0"/>
        </a:p>
      </dsp:txBody>
      <dsp:txXfrm>
        <a:off x="-1742624" y="2705874"/>
        <a:ext cx="4498149" cy="872631"/>
      </dsp:txXfrm>
    </dsp:sp>
    <dsp:sp modelId="{DC1CDE5C-0A11-493F-B87B-5F01198733BD}">
      <dsp:nvSpPr>
        <dsp:cNvPr id="0" name=""/>
        <dsp:cNvSpPr/>
      </dsp:nvSpPr>
      <dsp:spPr>
        <a:xfrm>
          <a:off x="1499525" y="0"/>
          <a:ext cx="4350887" cy="5766852"/>
        </a:xfrm>
        <a:prstGeom prst="rect">
          <a:avLst/>
        </a:prstGeom>
        <a:solidFill>
          <a:srgbClr val="009E9A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568" tIns="288000" rIns="9956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Ley General de Sociedades Mercantiles</a:t>
          </a:r>
          <a:endParaRPr lang="es-MX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2"/>
            </a:rPr>
            <a:t>Ley de Ahorro y Crédito Popular</a:t>
          </a:r>
          <a:endParaRPr lang="es-MX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b="0" i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3"/>
            </a:rPr>
            <a:t>Ley de la Comisión Nacional Bancaria y de Valores</a:t>
          </a:r>
          <a:endParaRPr lang="es-MX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b="0" i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Ley de Transparencia y de Fomento a la Competencia en el Crédito Garantizado</a:t>
          </a:r>
          <a:endParaRPr lang="es-MX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5"/>
            </a:rPr>
            <a:t>Ley para Regular las Sociedades de Información Crediticia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6"/>
            </a:rPr>
            <a:t>Ley de Protección y Defensa al Usuario de Servicios Financieros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7"/>
            </a:rPr>
            <a:t>La Ley Federal para la Prevención e Identificación de Operaciones Con Recursos de Procedencia Ilícita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8"/>
            </a:rPr>
            <a:t>Ley para la Transparencia y Ordenamiento de los Servicios Financieros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9"/>
            </a:rPr>
            <a:t>Ley para Regular las Agrupaciones Financieras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40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0"/>
            </a:rPr>
            <a:t>Ley General de Títulos y Operaciones de Crédito</a:t>
          </a:r>
          <a:endParaRPr lang="es-MX" sz="1400" kern="1200" dirty="0" smtClean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9525" y="0"/>
        <a:ext cx="4350887" cy="5766852"/>
      </dsp:txXfrm>
    </dsp:sp>
    <dsp:sp modelId="{0B3431A7-A148-43C2-852C-3C4B5A575AFC}">
      <dsp:nvSpPr>
        <dsp:cNvPr id="0" name=""/>
        <dsp:cNvSpPr/>
      </dsp:nvSpPr>
      <dsp:spPr>
        <a:xfrm>
          <a:off x="0" y="-68210"/>
          <a:ext cx="1745262" cy="1745262"/>
        </a:xfrm>
        <a:prstGeom prst="rect">
          <a:avLst/>
        </a:prstGeom>
        <a:blipFill>
          <a:blip xmlns:r="http://schemas.openxmlformats.org/officeDocument/2006/relationships" r:embed="rId11"/>
          <a:stretch>
            <a:fillRect l="15000" t="8000" r="20000" b="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C71CEFA-FFEF-4939-9850-A7C82FE7DC18}">
      <dsp:nvSpPr>
        <dsp:cNvPr id="0" name=""/>
        <dsp:cNvSpPr/>
      </dsp:nvSpPr>
      <dsp:spPr>
        <a:xfrm rot="16200000">
          <a:off x="4457222" y="2467694"/>
          <a:ext cx="4498149" cy="872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769612" bIns="0" numCol="1" spcCol="1270" anchor="t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3100" kern="1200" dirty="0" smtClean="0"/>
            <a:t>Disposiciones y/o Reglamentos</a:t>
          </a:r>
          <a:endParaRPr lang="es-MX" sz="3100" kern="1200" dirty="0"/>
        </a:p>
      </dsp:txBody>
      <dsp:txXfrm>
        <a:off x="4457222" y="2467694"/>
        <a:ext cx="4498149" cy="872631"/>
      </dsp:txXfrm>
    </dsp:sp>
    <dsp:sp modelId="{F7EE1BFE-95AC-4A7A-8469-BFC99428E024}">
      <dsp:nvSpPr>
        <dsp:cNvPr id="0" name=""/>
        <dsp:cNvSpPr/>
      </dsp:nvSpPr>
      <dsp:spPr>
        <a:xfrm>
          <a:off x="7200344" y="2074"/>
          <a:ext cx="4287905" cy="5764783"/>
        </a:xfrm>
        <a:prstGeom prst="rect">
          <a:avLst/>
        </a:prstGeom>
        <a:solidFill>
          <a:srgbClr val="006664"/>
        </a:solidFill>
        <a:ln>
          <a:solidFill>
            <a:schemeClr val="bg1">
              <a:lumMod val="65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2456" tIns="288000" rIns="92456" bIns="92456" numCol="1" spcCol="1270" anchor="t" anchorCtr="0">
          <a:noAutofit/>
        </a:bodyPr>
        <a:lstStyle/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2"/>
            </a:rPr>
            <a:t>Disposiciones de Carácter General aplicable a Entidades de Ahorro y Crédito Popular y Organismos de Integración a que se refiere la Ley de Ahorro y Crédito Popular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3"/>
            </a:rPr>
            <a:t>Reglamento de Supervisión de la Comisión Nacional Bancaria y de Valores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4"/>
            </a:rPr>
            <a:t>Disposiciones de Carácter General a que se refiere el artículo 124 de la Ley de Ahorro y Crédito Popular Estructura orgánica de las SOFIPOS de acuerdo a la LACP.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5"/>
            </a:rPr>
            <a:t>Disposiciones De Carácter General para la Certificación de Auditores Externos Independientes, Oficiales de Cumplimiento Y demás Profesionales en materia de Prevención de Operaciones con recursos de Procedencia Ilícita Y Financiamiento al Terrorismo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6"/>
            </a:rPr>
            <a:t>Reglas de Carácter General a que se refiere La Ley Federal para la Prevención e Identificación de Operaciones Con Recursos de Procedencia Ilícita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just" defTabSz="577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MX" sz="1300" b="0" kern="1200" dirty="0" smtClean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7"/>
            </a:rPr>
            <a:t>Disposiciones de carácter general aplicables a los requerimientos de información que formulen las autoridades a que se refieren los artículos 117 de la Ley de Instituciones de Crédito, 34 de la Ley de Ahorro y Crédito Popular, 44 de la Ley de Uniones de Crédito y 69 de la Ley para Regular las Actividades de las Sociedades Cooperativas de Ahorro y Préstamo</a:t>
          </a:r>
          <a:endParaRPr lang="es-MX" sz="1300" b="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s-MX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200344" y="2074"/>
        <a:ext cx="4287905" cy="5764783"/>
      </dsp:txXfrm>
    </dsp:sp>
    <dsp:sp modelId="{2DC08E12-FC21-41D8-A182-65D30837D2DE}">
      <dsp:nvSpPr>
        <dsp:cNvPr id="0" name=""/>
        <dsp:cNvSpPr/>
      </dsp:nvSpPr>
      <dsp:spPr>
        <a:xfrm>
          <a:off x="5964377" y="84133"/>
          <a:ext cx="1165084" cy="1154560"/>
        </a:xfrm>
        <a:prstGeom prst="rect">
          <a:avLst/>
        </a:prstGeom>
        <a:blipFill>
          <a:blip xmlns:r="http://schemas.openxmlformats.org/officeDocument/2006/relationships" r:embed="rId18"/>
          <a:stretch>
            <a:fillRect l="15000" t="8000" r="20000" b="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169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92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695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043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870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4957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073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4903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750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050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36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BEB03-FEB2-4805-BF7E-B7718252F503}" type="datetimeFigureOut">
              <a:rPr lang="es-MX" smtClean="0"/>
              <a:t>18/09/2015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0D84F-93D4-4C2F-99EF-43B19ECE448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41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06425"/>
          </a:xfrm>
          <a:solidFill>
            <a:srgbClr val="006666"/>
          </a:solidFill>
        </p:spPr>
        <p:txBody>
          <a:bodyPr>
            <a:normAutofit/>
          </a:bodyPr>
          <a:lstStyle/>
          <a:p>
            <a:r>
              <a:rPr lang="es-MX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Normatividad de las SOFIPOS</a:t>
            </a:r>
            <a:endParaRPr lang="es-MX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185328051"/>
              </p:ext>
            </p:extLst>
          </p:nvPr>
        </p:nvGraphicFramePr>
        <p:xfrm>
          <a:off x="214313" y="719667"/>
          <a:ext cx="11687175" cy="5766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2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286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Normatividad de las SOFIPOS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Normatividad de las SOFIPOS</dc:title>
  <dc:creator>Miriam Chávez Díaz</dc:creator>
  <cp:lastModifiedBy>amsofipo ac</cp:lastModifiedBy>
  <cp:revision>9</cp:revision>
  <dcterms:created xsi:type="dcterms:W3CDTF">2015-09-17T18:51:44Z</dcterms:created>
  <dcterms:modified xsi:type="dcterms:W3CDTF">2015-09-18T19:49:52Z</dcterms:modified>
</cp:coreProperties>
</file>